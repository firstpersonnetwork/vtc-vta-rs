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Verified Trust Agent (VTA)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2FF"/>
                </a:solidFill>
                <a:latin typeface="Calibri"/>
              </a:defRPr>
            </a:pPr>
            <a:r>
              <a:t>Service Architecture &amp; Feature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3474720"/>
            <a:ext cx="21031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BD5E1"/>
                </a:solidFill>
                <a:latin typeface="Calibri"/>
              </a:defRPr>
            </a:pPr>
            <a:r>
              <a:t>First Person Network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4A3B8"/>
                </a:solidFill>
                <a:latin typeface="Calibri"/>
              </a:defRPr>
            </a:pPr>
            <a:r>
              <a:t>Community Network Manager (CNM) CLI  |  VTA Service  |  VTA SDK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is the Verified Trust Agent?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Calibri"/>
              </a:defRPr>
            </a:pPr>
            <a:r>
              <a:t>The VTA is the key management and policy engine for a Verified Trust Community (VTC). It manages cryptographic identities, access control, and secure messaging for organizations participating in the First Person Network.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3474720" cy="3200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Key Management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BIP-32 HD key derivation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Ed25519 signing &amp; X25519 encryption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Master seed in OS keyring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Context-scoped key hierarchies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2743200"/>
            <a:ext cx="3474720" cy="3200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88036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Calibri"/>
              </a:defRPr>
            </a:pPr>
            <a:r>
              <a:t>Identity &amp; Auth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DIDComm challenge-response auth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did:key and did:webvh identities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JWT access &amp; refresh tokens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Role-based session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2743200"/>
            <a:ext cx="3474720" cy="3200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88036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Access Control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Multi-tenant context model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Admin / Initiator / Application roles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Super admin vs context admin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Privilege escalation prevention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Workspace &amp; 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34747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onsolas"/>
              </a:defRPr>
            </a:pPr>
            <a:r>
              <a:t>vta-service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Axum HTTP service — the core VTA server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280160"/>
            <a:ext cx="34747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37160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Consolas"/>
              </a:defRPr>
            </a:pPr>
            <a:r>
              <a:t>vta-sdk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Shared types: KeyRecord, ContextRecord, constants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1280160"/>
            <a:ext cx="34747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37160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onsolas"/>
              </a:defRPr>
            </a:pPr>
            <a:r>
              <a:t>cnm-cli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Community Network Manager — the admin CLI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2651760"/>
            <a:ext cx="7315200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26517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 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6517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  Technology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0" y="3035808"/>
            <a:ext cx="73152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303580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Web Framework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03580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  Axum 0.8 + Tokio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3419856"/>
            <a:ext cx="7315200" cy="38404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41985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41985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  fjall (embedded LSM key-value store)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3803904"/>
            <a:ext cx="73152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3803904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Cryptography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80390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  ed25519-dalek, ed25519-dalek-bip32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4187952"/>
            <a:ext cx="7315200" cy="38404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4187952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DID Resolution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18795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  affinidi-did-resolver-cache-sdk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4572000"/>
            <a:ext cx="73152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57200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DIDComm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57200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  affinidi-tdk (messaging, secrets)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0" y="4956048"/>
            <a:ext cx="7315200" cy="38404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0" y="495604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JWT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95604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  jsonwebtoken (EdDSA / Ed25519)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0" y="5340096"/>
            <a:ext cx="73152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534009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Seed Storage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534009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  OS keyring (keyring crate)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60320" y="5724144"/>
            <a:ext cx="7315200" cy="38404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0320" y="5724144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Language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46320" y="572414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  Rust 2024 edition (1.90+)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High-Level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56032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56032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90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Calibri"/>
              </a:defRPr>
            </a:pPr>
            <a:r>
              <a:t>CNM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Community Network Manager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00400" y="1691640"/>
            <a:ext cx="914400" cy="228600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280160"/>
            <a:ext cx="7498079" cy="4846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280160"/>
            <a:ext cx="7498079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381760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2FF"/>
                </a:solidFill>
                <a:latin typeface="Calibri"/>
              </a:defRPr>
            </a:pPr>
            <a:r>
              <a:t>VTA Service (Axum)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103120"/>
            <a:ext cx="1645920" cy="685800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2103120"/>
            <a:ext cx="16459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79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Calibri"/>
              </a:defRPr>
            </a:pPr>
            <a:r>
              <a:t>Auth Module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JWT, DIDComm, Sessions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103120"/>
            <a:ext cx="1645920" cy="685800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2103120"/>
            <a:ext cx="16459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179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Calibri"/>
              </a:defRPr>
            </a:pPr>
            <a:r>
              <a:t>ACL Module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Roles &amp; Permissions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2103120"/>
            <a:ext cx="1645920" cy="685800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60" y="2103120"/>
            <a:ext cx="16459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0" y="2179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Calibri"/>
              </a:defRPr>
            </a:pPr>
            <a:r>
              <a:t>Key Management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BIP-32 Derivation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2103120"/>
            <a:ext cx="1645920" cy="685800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921240" y="2103120"/>
            <a:ext cx="16459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21240" y="2179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Calibri"/>
              </a:defRPr>
            </a:pPr>
            <a:r>
              <a:t>Contexts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Multi-tenant Scoping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3017520"/>
            <a:ext cx="6949440" cy="548640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0" y="3017520"/>
            <a:ext cx="694944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309372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0B981"/>
                </a:solidFill>
                <a:latin typeface="Calibri"/>
              </a:defRPr>
            </a:pPr>
            <a:r>
              <a:t>REST API Routes:  /health  |  /auth  |  /keys  |  /contexts  |  /acl  |  /config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840480"/>
            <a:ext cx="2194560" cy="685800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3840480"/>
            <a:ext cx="219456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39166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2FF"/>
                </a:solidFill>
                <a:latin typeface="Calibri"/>
              </a:defRPr>
            </a:pPr>
            <a:r>
              <a:t>fjall KV Store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160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keys | sessions | acl | contexts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9440" y="3840480"/>
            <a:ext cx="2194560" cy="685800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49440" y="3840480"/>
            <a:ext cx="219456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0" y="39166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2FF"/>
                </a:solidFill>
                <a:latin typeface="Calibri"/>
              </a:defRPr>
            </a:pPr>
            <a:r>
              <a:t>OS Keyring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4160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Master seed storage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26880" y="3840480"/>
            <a:ext cx="2194560" cy="685800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26880" y="3840480"/>
            <a:ext cx="219456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9166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2FF"/>
                </a:solidFill>
                <a:latin typeface="Calibri"/>
              </a:defRPr>
            </a:pPr>
            <a:r>
              <a:t>Config (TOML)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0" y="4160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Server + auth settings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24688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  <a:latin typeface="Calibri"/>
              </a:defRPr>
            </a:pPr>
            <a:r>
              <a:t>DIDComm v2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alibri"/>
              </a:defRPr>
            </a:pPr>
            <a:r>
              <a:t>Encrypted + signed messages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alibri"/>
              </a:defRPr>
            </a:pPr>
            <a:r>
              <a:t>Ed25519 / X25519 keys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384048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Calibri"/>
              </a:defRPr>
            </a:pPr>
            <a:r>
              <a:t>External Dependencies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94A3B8"/>
                </a:solidFill>
                <a:latin typeface="Calibri"/>
              </a:defRPr>
            </a:pPr>
            <a:r>
              <a:t>affinidi-tdk (DIDComm)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alibri"/>
              </a:defRPr>
            </a:pPr>
            <a:r>
              <a:t>DID Resolver Cache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alibri"/>
              </a:defRPr>
            </a:pPr>
            <a:r>
              <a:t>BIP-32 / BIP-39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Authentication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200400"/>
            <a:ext cx="182880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4A3B8"/>
                </a:solidFill>
                <a:latin typeface="Calibri"/>
              </a:defRPr>
            </a:pPr>
            <a:r>
              <a:t>DIDComm-based challenge-response with JWT tokens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Authentication Flow</a:t>
            </a:r>
          </a:p>
        </p:txBody>
      </p:sp>
      <p:sp>
        <p:nvSpPr>
          <p:cNvPr id="5" name="Oval 4"/>
          <p:cNvSpPr/>
          <p:nvPr/>
        </p:nvSpPr>
        <p:spPr>
          <a:xfrm>
            <a:off x="1508760" y="137160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26517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4028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D2FF"/>
                </a:solidFill>
                <a:latin typeface="Calibri"/>
              </a:defRPr>
            </a:pPr>
            <a:r>
              <a:t>Challenge Request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Client sends DID to /auth/challenge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VTA verifies DID is in ACL, creates session,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returns challenge nonce</a:t>
            </a:r>
          </a:p>
        </p:txBody>
      </p:sp>
      <p:sp>
        <p:nvSpPr>
          <p:cNvPr id="8" name="Oval 7"/>
          <p:cNvSpPr/>
          <p:nvPr/>
        </p:nvSpPr>
        <p:spPr>
          <a:xfrm>
            <a:off x="4389120" y="137160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2103120"/>
            <a:ext cx="26517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224028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7C3AED"/>
                </a:solidFill>
                <a:latin typeface="Calibri"/>
              </a:defRPr>
            </a:pPr>
            <a:r>
              <a:t>DIDComm Response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Client builds signed+encrypted DIDComm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message containing the challenge.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Sent to /auth/</a:t>
            </a:r>
          </a:p>
        </p:txBody>
      </p:sp>
      <p:sp>
        <p:nvSpPr>
          <p:cNvPr id="11" name="Oval 10"/>
          <p:cNvSpPr/>
          <p:nvPr/>
        </p:nvSpPr>
        <p:spPr>
          <a:xfrm>
            <a:off x="7269480" y="13716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103120"/>
            <a:ext cx="26517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24028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0B981"/>
                </a:solidFill>
                <a:latin typeface="Calibri"/>
              </a:defRPr>
            </a:pPr>
            <a:r>
              <a:t>Verification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VTA unpacks message, verifies signature,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matches challenge &amp; DID, checks TTL.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Looks up role from ACL.</a:t>
            </a:r>
          </a:p>
        </p:txBody>
      </p:sp>
      <p:sp>
        <p:nvSpPr>
          <p:cNvPr id="14" name="Oval 13"/>
          <p:cNvSpPr/>
          <p:nvPr/>
        </p:nvSpPr>
        <p:spPr>
          <a:xfrm>
            <a:off x="10149840" y="137160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98280" y="2103120"/>
            <a:ext cx="26517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224028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59E0B"/>
                </a:solidFill>
                <a:latin typeface="Calibri"/>
              </a:defRPr>
            </a:pPr>
            <a:r>
              <a:t>Token Issuance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VTA issues JWT access token (15 min)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and refresh token (24 hours).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Session transitions to Authenticated.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JWT Claims &amp; Session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303520" cy="4572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JWT Access Token Claims</a:t>
            </a:r>
          </a:p>
          <a:p>
            <a:pPr algn="l">
              <a:spcBef>
                <a:spcPts val="800"/>
              </a:spcBef>
              <a:defRPr sz="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400" b="0">
                <a:solidFill>
                  <a:srgbClr val="10B981"/>
                </a:solidFill>
                <a:latin typeface="Consolas"/>
              </a:defRPr>
            </a:pPr>
            <a:r>
              <a:t>  aud:  "VTA"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 Audience identifier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0B981"/>
                </a:solidFill>
                <a:latin typeface="Consolas"/>
              </a:defRPr>
            </a:pPr>
            <a:r>
              <a:t>  sub:  "did:key:z6Mk..."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 Authenticated DID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0B981"/>
                </a:solidFill>
                <a:latin typeface="Consolas"/>
              </a:defRPr>
            </a:pPr>
            <a:r>
              <a:t>  session_id:  "uuid"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 Active session reference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0B981"/>
                </a:solidFill>
                <a:latin typeface="Consolas"/>
              </a:defRPr>
            </a:pPr>
            <a:r>
              <a:t>  role:  "admin"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 ACL role (admin/initiator/application)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0B981"/>
                </a:solidFill>
                <a:latin typeface="Consolas"/>
              </a:defRPr>
            </a:pPr>
            <a:r>
              <a:t>  contexts:  ["vta", "mediator"]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 Allowed context scopes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0B981"/>
                </a:solidFill>
                <a:latin typeface="Consolas"/>
              </a:defRPr>
            </a:pPr>
            <a:r>
              <a:t>  exp:  1738000000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 Expiration timestamp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80160"/>
            <a:ext cx="5486400" cy="4572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Calibri"/>
              </a:defRPr>
            </a:pPr>
            <a:r>
              <a:t>Session Lifecycle</a:t>
            </a:r>
          </a:p>
          <a:p>
            <a:pPr algn="l">
              <a:spcBef>
                <a:spcPts val="800"/>
              </a:spcBef>
              <a:defRPr sz="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300" b="1">
                <a:solidFill>
                  <a:srgbClr val="CBD5E1"/>
                </a:solidFill>
                <a:latin typeface="Calibri"/>
              </a:defRPr>
            </a:pPr>
            <a:r>
              <a:t>POST /auth/challenge  --&gt;  ChallengeSent state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Session created with DID + random nonce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Expires after challenge_ttl (default 5 min)</a:t>
            </a:r>
          </a:p>
          <a:p>
            <a:pPr algn="l">
              <a:spcBef>
                <a:spcPts val="200"/>
              </a:spcBef>
              <a:defRPr sz="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300" b="1">
                <a:solidFill>
                  <a:srgbClr val="CBD5E1"/>
                </a:solidFill>
                <a:latin typeface="Calibri"/>
              </a:defRPr>
            </a:pPr>
            <a:r>
              <a:t>POST /auth/  --&gt;  Authenticated state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Access token: 15 minutes (default)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Refresh token: 24 hours (default)</a:t>
            </a:r>
          </a:p>
          <a:p>
            <a:pPr algn="l">
              <a:spcBef>
                <a:spcPts val="200"/>
              </a:spcBef>
              <a:defRPr sz="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300" b="1">
                <a:solidFill>
                  <a:srgbClr val="CBD5E1"/>
                </a:solidFill>
                <a:latin typeface="Calibri"/>
              </a:defRPr>
            </a:pPr>
            <a:r>
              <a:t>POST /auth/refresh  --&gt;  New access token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Re-evaluates ACL role &amp; contexts</a:t>
            </a:r>
          </a:p>
          <a:p>
            <a:pPr algn="l">
              <a:spcBef>
                <a:spcPts val="200"/>
              </a:spcBef>
              <a:defRPr sz="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300" b="1">
                <a:solidFill>
                  <a:srgbClr val="CBD5E1"/>
                </a:solidFill>
                <a:latin typeface="Calibri"/>
              </a:defRPr>
            </a:pPr>
            <a:r>
              <a:t>Background cleanup task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Runs every 10 minutes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Removes expired sessions from both states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Authorization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3566160" cy="3657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2FF"/>
                </a:solidFill>
                <a:latin typeface="Calibri"/>
              </a:defRPr>
            </a:pPr>
            <a:r>
              <a:t>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Full resource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Super Admin: unrestricted (empty contexts)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Context Admin: scoped to assigned contexts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Create/revoke keys, manage ACL, update config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Create contexts (super admin only)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280160"/>
            <a:ext cx="3566160" cy="3657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17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C3AED"/>
                </a:solidFill>
                <a:latin typeface="Calibri"/>
              </a:defRPr>
            </a:pPr>
            <a:r>
              <a:t>Initiator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874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Management 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37744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Create and manage ACL entries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Generate did:key credentials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List sessions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Cannot create keys or contexts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280160"/>
            <a:ext cx="3566160" cy="3657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0B981"/>
                </a:solidFill>
                <a:latin typeface="Calibri"/>
              </a:defRPr>
            </a:pPr>
            <a:r>
              <a:t>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874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Read-only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37744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Read keys within allowed contexts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Read context metadata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Read configuration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Cannot modify any resources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2120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Axum Extractors:  </a:t>
            </a:r>
            <a:r>
              <a:rPr sz="1400">
                <a:solidFill>
                  <a:srgbClr val="00D2FF"/>
                </a:solidFill>
                <a:latin typeface="Consolas"/>
              </a:rPr>
              <a:t>AuthClaims</a:t>
            </a:r>
            <a:r>
              <a:rPr sz="1400">
                <a:solidFill>
                  <a:srgbClr val="94A3B8"/>
                </a:solidFill>
              </a:rPr>
              <a:t>  |  </a:t>
            </a:r>
            <a:r>
              <a:rPr sz="1400">
                <a:solidFill>
                  <a:srgbClr val="7C3AED"/>
                </a:solidFill>
                <a:latin typeface="Consolas"/>
              </a:rPr>
              <a:t>ManageAuth</a:t>
            </a:r>
            <a:r>
              <a:rPr sz="1400">
                <a:solidFill>
                  <a:srgbClr val="94A3B8"/>
                </a:solidFill>
              </a:rPr>
              <a:t>  |  </a:t>
            </a:r>
            <a:r>
              <a:rPr sz="1400">
                <a:solidFill>
                  <a:srgbClr val="7C3AED"/>
                </a:solidFill>
                <a:latin typeface="Consolas"/>
              </a:rPr>
              <a:t>AdminAuth</a:t>
            </a:r>
            <a:r>
              <a:rPr sz="1400">
                <a:solidFill>
                  <a:srgbClr val="94A3B8"/>
                </a:solidFill>
              </a:rPr>
              <a:t>  |  </a:t>
            </a:r>
            <a:r>
              <a:rPr sz="1400">
                <a:solidFill>
                  <a:srgbClr val="7C3AED"/>
                </a:solidFill>
                <a:latin typeface="Consolas"/>
              </a:rPr>
              <a:t>SuperAdminAuth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Key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200400"/>
            <a:ext cx="1828800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4A3B8"/>
                </a:solidFill>
                <a:latin typeface="Calibri"/>
              </a:defRPr>
            </a:pPr>
            <a:r>
              <a:t>BIP-32 hierarchical deterministic derivation from a single master seed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Key Management — BIP-32 Hierarchy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685800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6492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Derivation Path Structure</a:t>
            </a:r>
          </a:p>
          <a:p>
            <a:pPr algn="l">
              <a:spcBef>
                <a:spcPts val="500"/>
              </a:spcBef>
              <a:defRPr sz="1400" b="1">
                <a:solidFill>
                  <a:srgbClr val="10B981"/>
                </a:solidFill>
                <a:latin typeface="Consolas"/>
              </a:defRPr>
            </a:pPr>
            <a:r>
              <a:t>m/26'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First Person Network</a:t>
            </a:r>
          </a:p>
          <a:p>
            <a:pPr algn="l">
              <a:spcBef>
                <a:spcPts val="500"/>
              </a:spcBef>
              <a:defRPr sz="1400" b="1">
                <a:solidFill>
                  <a:srgbClr val="10B981"/>
                </a:solidFill>
                <a:latin typeface="Consolas"/>
              </a:defRPr>
            </a:pPr>
            <a:r>
              <a:t>  m/26'/2'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Key derivation purpose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00D2FF"/>
                </a:solidFill>
                <a:latin typeface="Consolas"/>
              </a:defRPr>
            </a:pPr>
            <a:r>
              <a:t>    m/26'/2'/0'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vta context (index 0)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00D2FF"/>
                </a:solidFill>
                <a:latin typeface="Consolas"/>
              </a:defRPr>
            </a:pPr>
            <a:r>
              <a:t>      m/26'/2'/0'/0'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First key (Ed25519 signing)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00D2FF"/>
                </a:solidFill>
                <a:latin typeface="Consolas"/>
              </a:defRPr>
            </a:pPr>
            <a:r>
              <a:t>      m/26'/2'/0'/1'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Second key (X25519 agreement)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00D2FF"/>
                </a:solidFill>
                <a:latin typeface="Consolas"/>
              </a:defRPr>
            </a:pPr>
            <a:r>
              <a:t>    m/26'/2'/1'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mediator context (index 1)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00D2FF"/>
                </a:solidFill>
                <a:latin typeface="Consolas"/>
              </a:defRPr>
            </a:pPr>
            <a:r>
              <a:t>    m/26'/2'/2'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trust-registry context (index 2)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00D2FF"/>
                </a:solidFill>
                <a:latin typeface="Consolas"/>
              </a:defRPr>
            </a:pPr>
            <a:r>
              <a:t>    m/26'/2'/N'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user-created contexts (N=3+)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280160"/>
            <a:ext cx="411480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371600"/>
            <a:ext cx="37490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Calibri"/>
              </a:defRPr>
            </a:pPr>
            <a:r>
              <a:t>Key Types</a:t>
            </a:r>
          </a:p>
          <a:p>
            <a:pPr algn="l">
              <a:spcBef>
                <a:spcPts val="4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Ed25519 — Signing &amp; authentication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Multibase: z6Mk...</a:t>
            </a:r>
          </a:p>
          <a:p>
            <a:pPr>
              <a:spcBef>
                <a:spcPts val="6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X25519 — Key agreement (encryption)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Multibase: z6LS...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3840480"/>
            <a:ext cx="4114800" cy="2468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931920"/>
            <a:ext cx="374903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Calibri"/>
              </a:defRPr>
            </a:pPr>
            <a:r>
              <a:t>Seed Security</a:t>
            </a:r>
          </a:p>
          <a:p>
            <a:pPr algn="l">
              <a:spcBef>
                <a:spcPts val="4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Master seed stored in OS keyring</a:t>
            </a:r>
          </a:p>
          <a:p>
            <a:pPr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Never touches disk</a:t>
            </a:r>
          </a:p>
          <a:p>
            <a:pPr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BIP-39 mnemonic import supported</a:t>
            </a:r>
          </a:p>
          <a:p>
            <a:pPr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Random 32-byte fallback</a:t>
            </a:r>
          </a:p>
          <a:p>
            <a:pPr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Sequential path counters per context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Application Contexts &amp; Storage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48640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Application Contexts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Contexts group keys and DIDs into logical units for multi-tenant operation.</a:t>
            </a:r>
          </a:p>
          <a:p>
            <a:pPr algn="l">
              <a:spcBef>
                <a:spcPts val="6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defRPr sz="1600" b="1">
                <a:solidFill>
                  <a:srgbClr val="7C3AED"/>
                </a:solidFill>
                <a:latin typeface="Consolas"/>
              </a:defRPr>
            </a:pPr>
            <a:r>
              <a:t>ContextRecord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94A3B8"/>
                </a:solidFill>
                <a:latin typeface="Consolas"/>
              </a:defRPr>
            </a:pPr>
            <a:r>
              <a:t>  id: slug identifier (e.g. "vta", "mediator")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94A3B8"/>
                </a:solidFill>
                <a:latin typeface="Consolas"/>
              </a:defRPr>
            </a:pPr>
            <a:r>
              <a:t>  name: human-readable display name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94A3B8"/>
                </a:solidFill>
                <a:latin typeface="Consolas"/>
              </a:defRPr>
            </a:pPr>
            <a:r>
              <a:t>  did: optional DID for this context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94A3B8"/>
                </a:solidFill>
                <a:latin typeface="Consolas"/>
              </a:defRPr>
            </a:pPr>
            <a:r>
              <a:t>  base_path: BIP-32 path (m/26'/2'/N')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94A3B8"/>
                </a:solidFill>
                <a:latin typeface="Consolas"/>
              </a:defRPr>
            </a:pPr>
            <a:r>
              <a:t>  index: position in hierarchy</a:t>
            </a:r>
          </a:p>
          <a:p>
            <a:pPr algn="l">
              <a:spcBef>
                <a:spcPts val="6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300" b="0">
                <a:solidFill>
                  <a:srgbClr val="10B981"/>
                </a:solidFill>
                <a:latin typeface="Calibri"/>
              </a:defRPr>
            </a:pPr>
            <a:r>
              <a:t>Seeded contexts: vta, mediator, trust-registry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Additional contexts created via POST /contexts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80160"/>
            <a:ext cx="548640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fjall Storage Layout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Embedded LSM key-value store with 4 keyspaces:</a:t>
            </a:r>
          </a:p>
          <a:p>
            <a:pPr algn="l">
              <a:spcBef>
                <a:spcPts val="4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7C3AED"/>
                </a:solidFill>
                <a:latin typeface="Consolas"/>
              </a:defRPr>
            </a:pPr>
            <a:r>
              <a:t>keys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key:{key_id}  --&gt;  KeyRecord (JSON)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path_counter:{base}  --&gt;  u32 (LE)</a:t>
            </a:r>
          </a:p>
          <a:p>
            <a:pPr algn="l">
              <a:spcBef>
                <a:spcPts val="4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7C3AED"/>
                </a:solidFill>
                <a:latin typeface="Consolas"/>
              </a:defRPr>
            </a:pPr>
            <a:r>
              <a:t>sessions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session:{id}  --&gt;  Session (JSON)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refresh:{token}  --&gt;  session_id</a:t>
            </a:r>
          </a:p>
          <a:p>
            <a:pPr algn="l">
              <a:spcBef>
                <a:spcPts val="4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7C3AED"/>
                </a:solidFill>
                <a:latin typeface="Consolas"/>
              </a:defRPr>
            </a:pPr>
            <a:r>
              <a:t>acl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acl:{did}  --&gt;  AclEntry (JSON)</a:t>
            </a:r>
          </a:p>
          <a:p>
            <a:pPr algn="l">
              <a:spcBef>
                <a:spcPts val="4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7C3AED"/>
                </a:solidFill>
                <a:latin typeface="Consolas"/>
              </a:defRPr>
            </a:pPr>
            <a:r>
              <a:t>contexts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ctx:{id}  --&gt;  ContextRecord (JSON)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ctx_counter  --&gt;  u32 (LE)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REST API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47120" cy="2926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1887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118872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 Auth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18872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 Purpose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188720"/>
            <a:ext cx="5532120" cy="2926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188720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 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11887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29800" y="118872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 Auth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52760" y="118872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 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506728"/>
            <a:ext cx="6172200" cy="292608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506728"/>
            <a:ext cx="6172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10B981"/>
                </a:solidFill>
                <a:latin typeface="Calibri"/>
              </a:defRPr>
            </a:pPr>
            <a:r>
              <a:t>  Public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799336"/>
            <a:ext cx="617220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799336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179933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/health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9933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None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179933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Status + version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117344"/>
            <a:ext cx="6172200" cy="292608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117344"/>
            <a:ext cx="6172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10B981"/>
                </a:solidFill>
                <a:latin typeface="Calibri"/>
              </a:defRPr>
            </a:pPr>
            <a:r>
              <a:t>  Auth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409952"/>
            <a:ext cx="617220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40995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240995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/auth/challenge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40995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ACL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240995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Request challenge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702560"/>
            <a:ext cx="617220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702560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27025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/auth/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60" y="270256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None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270256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Submit signed challenge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2995168"/>
            <a:ext cx="617220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2995168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29951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/auth/refresh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94760" y="299516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None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29951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Refresh access token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287776"/>
            <a:ext cx="617220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3287776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328777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/auth/credentials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328777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Manage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328777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Generate did:key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3580384"/>
            <a:ext cx="617220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3580384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34440" y="358038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/auth/sessions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94760" y="358038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Manage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17720" y="358038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List sessions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72992"/>
            <a:ext cx="617220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387299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DELETE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34440" y="387299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/auth/sessions/{id}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4760" y="387299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Auth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17720" y="387299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Revoke session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4191000"/>
            <a:ext cx="6172200" cy="292608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4191000"/>
            <a:ext cx="6172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10B981"/>
                </a:solidFill>
                <a:latin typeface="Calibri"/>
              </a:defRPr>
            </a:pPr>
            <a:r>
              <a:t>  Config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4483608"/>
            <a:ext cx="617220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4483608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34440" y="44836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/config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94760" y="448360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Auth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17720" y="44836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Read config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4776216"/>
            <a:ext cx="617220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4776216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34440" y="477621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/config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94760" y="477621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Super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17720" y="477621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Update config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5120" y="1506728"/>
            <a:ext cx="5532120" cy="292608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75120" y="1506728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10B981"/>
                </a:solidFill>
                <a:latin typeface="Calibri"/>
              </a:defRPr>
            </a:pPr>
            <a:r>
              <a:t>  Keys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75120" y="1799336"/>
            <a:ext cx="553212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75120" y="1799336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POST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52360" y="179933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/keys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800" y="179933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Admin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1799336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Create key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75120" y="2091944"/>
            <a:ext cx="5532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675120" y="2091944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52360" y="209194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/keys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29800" y="209194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Auth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652760" y="209194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List keys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75120" y="2384552"/>
            <a:ext cx="553212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75120" y="238455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52360" y="238455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/keys/{id}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29800" y="238455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Auth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23845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Get key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75120" y="2677160"/>
            <a:ext cx="5532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675120" y="2677160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DELETE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52360" y="267716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/keys/{id}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829800" y="267716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Admin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652760" y="267716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Revoke key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75120" y="2969768"/>
            <a:ext cx="553212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75120" y="2969768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PATCH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52360" y="296976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/keys/{id}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29800" y="296976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Admin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52760" y="296976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Rename key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675120" y="3287776"/>
            <a:ext cx="5532120" cy="292608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675120" y="3287776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10B981"/>
                </a:solidFill>
                <a:latin typeface="Calibri"/>
              </a:defRPr>
            </a:pPr>
            <a:r>
              <a:t>  Contexts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675120" y="3580384"/>
            <a:ext cx="5532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675120" y="3580384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POST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452360" y="358038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/contexts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829800" y="358038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Super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652760" y="358038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Create context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675120" y="3872992"/>
            <a:ext cx="553212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75120" y="387299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452360" y="387299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/contexts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829800" y="387299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Auth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652760" y="387299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List contexts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675120" y="4165600"/>
            <a:ext cx="5532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675120" y="4165600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452360" y="416560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/contexts/{id}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29800" y="416560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Auth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652760" y="416560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Get context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675120" y="4458208"/>
            <a:ext cx="553212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675120" y="4458208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PATCH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445820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/contexts/{id}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29800" y="445820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Super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652760" y="445820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Update context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675120" y="4750816"/>
            <a:ext cx="5532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675120" y="4750816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DELETE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452360" y="475081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/contexts/{id}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829800" y="475081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Super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652760" y="4750816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Delete context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675120" y="5068824"/>
            <a:ext cx="5532120" cy="292608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675120" y="5068824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10B981"/>
                </a:solidFill>
                <a:latin typeface="Calibri"/>
              </a:defRPr>
            </a:pPr>
            <a:r>
              <a:t>  ACL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675120" y="5361432"/>
            <a:ext cx="553212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675120" y="536143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POST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52360" y="536143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/acl/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829800" y="536143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Manage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652760" y="536143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Create entry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675120" y="5654040"/>
            <a:ext cx="5532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675120" y="5654040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452360" y="565404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/acl/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829800" y="565404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Manage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52760" y="565404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List entries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675120" y="5946648"/>
            <a:ext cx="553212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675120" y="5946648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452360" y="594664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/acl/{did}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829800" y="594664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Manage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652760" y="594664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Get entry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675120" y="6239256"/>
            <a:ext cx="5532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675120" y="6239256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PATCH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52360" y="623925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/acl/{did}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829800" y="623925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Manage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652760" y="6239256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Update entry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675120" y="6531864"/>
            <a:ext cx="553212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675120" y="6531864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DELETE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452360" y="653186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/acl/{did}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829800" y="653186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Manage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652760" y="653186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Delete entry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CNM CLI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200400"/>
            <a:ext cx="182880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4A3B8"/>
                </a:solidFill>
                <a:latin typeface="Calibri"/>
              </a:defRPr>
            </a:pPr>
            <a:r>
              <a:t>Community Network Manager — the administrative command-line tool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CNM CLI — Command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50800" cy="594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8524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1">
                <a:solidFill>
                  <a:srgbClr val="00D2FF"/>
                </a:solidFill>
                <a:latin typeface="Consolas"/>
              </a:defRPr>
            </a:pPr>
            <a:r>
              <a:t>cnm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85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Check VTA service status (no auth)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47672"/>
            <a:ext cx="1124712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47672"/>
            <a:ext cx="508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9847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1">
                <a:solidFill>
                  <a:srgbClr val="7C3AED"/>
                </a:solidFill>
                <a:latin typeface="Consolas"/>
              </a:defRPr>
            </a:pPr>
            <a:r>
              <a:t>cnm auth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99847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login | logout | 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60904"/>
            <a:ext cx="1124712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60904"/>
            <a:ext cx="508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1170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1">
                <a:solidFill>
                  <a:srgbClr val="7C3AED"/>
                </a:solidFill>
                <a:latin typeface="Consolas"/>
              </a:defRPr>
            </a:pPr>
            <a:r>
              <a:t>cnm config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11704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get | update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74136"/>
            <a:ext cx="1124712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74136"/>
            <a:ext cx="50800" cy="594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424936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1">
                <a:solidFill>
                  <a:srgbClr val="00D2FF"/>
                </a:solidFill>
                <a:latin typeface="Consolas"/>
              </a:defRPr>
            </a:pPr>
            <a:r>
              <a:t>cnm keys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24936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create | list | get | revoke | rename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87368"/>
            <a:ext cx="1124712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87368"/>
            <a:ext cx="50800" cy="594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138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1">
                <a:solidFill>
                  <a:srgbClr val="10B981"/>
                </a:solidFill>
                <a:latin typeface="Consolas"/>
              </a:defRPr>
            </a:pPr>
            <a:r>
              <a:t>cnm contexts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3816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list | get | create | update | delete | bootstrap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00600"/>
            <a:ext cx="1124712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800600"/>
            <a:ext cx="50800" cy="594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8514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1">
                <a:solidFill>
                  <a:srgbClr val="10B981"/>
                </a:solidFill>
                <a:latin typeface="Consolas"/>
              </a:defRPr>
            </a:pPr>
            <a:r>
              <a:t>cnm acl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8514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list | get | create | update | delete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513832"/>
            <a:ext cx="1124712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513832"/>
            <a:ext cx="508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5646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1">
                <a:solidFill>
                  <a:srgbClr val="7C3AED"/>
                </a:solidFill>
                <a:latin typeface="Consolas"/>
              </a:defRPr>
            </a:pPr>
            <a:r>
              <a:t>cnm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56463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create (generate did:key credentials)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Transparent authentication: CLI auto-refreshes tokens. Credentials stored securely in OS keyring.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CNM CLI — Authentication &amp; Credential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48640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Login Flow</a:t>
            </a:r>
          </a:p>
          <a:p>
            <a:pPr algn="l">
              <a:spcBef>
                <a:spcPts val="6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defRPr sz="1400" b="1">
                <a:solidFill>
                  <a:srgbClr val="CBD5E1"/>
                </a:solidFill>
                <a:latin typeface="Calibri"/>
              </a:defRPr>
            </a:pPr>
            <a:r>
              <a:t> 1.  Admin generates credential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cnm identity create --role admin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CBD5E1"/>
                </a:solidFill>
                <a:latin typeface="Calibri"/>
              </a:defRPr>
            </a:pPr>
            <a:r>
              <a:t> 2.  Credential delivered out-of-band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Base64-encoded bundle with private key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CBD5E1"/>
                </a:solidFill>
                <a:latin typeface="Calibri"/>
              </a:defRPr>
            </a:pPr>
            <a:r>
              <a:t> 3.  User imports credential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cnm auth login &lt;credential&gt;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CBD5E1"/>
                </a:solidFill>
                <a:latin typeface="Calibri"/>
              </a:defRPr>
            </a:pPr>
            <a:r>
              <a:t> 4.  CLI stores in OS keyring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DID, private key, VTA DID, VTA URL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CBD5E1"/>
                </a:solidFill>
                <a:latin typeface="Calibri"/>
              </a:defRPr>
            </a:pPr>
            <a:r>
              <a:t> 5.  Challenge-response runs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Validates credential against VTA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CBD5E1"/>
                </a:solidFill>
                <a:latin typeface="Calibri"/>
              </a:defRPr>
            </a:pPr>
            <a:r>
              <a:t> 6.  Tokens cached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Access + refresh tokens stored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80160"/>
            <a:ext cx="548640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Calibri"/>
              </a:defRPr>
            </a:pPr>
            <a:r>
              <a:t>Transparent Auth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Every protected command automatically:</a:t>
            </a:r>
          </a:p>
          <a:p>
            <a:pPr algn="l">
              <a:spcBef>
                <a:spcPts val="4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Check cached access token validity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If valid (&gt;30s remaining): reuse token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If expired: full challenge-response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- POST /auth/challenge with client DID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- Build DIDComm signed+encrypted message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- POST packed message to /auth/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- Cache new tokens in keyring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Attach Bearer token to API request</a:t>
            </a:r>
          </a:p>
          <a:p>
            <a:pPr algn="l">
              <a:spcBef>
                <a:spcPts val="1000"/>
              </a:spcBef>
              <a:defRPr sz="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defRPr sz="1400" b="1">
                <a:solidFill>
                  <a:srgbClr val="10B981"/>
                </a:solidFill>
                <a:latin typeface="Calibri"/>
              </a:defRPr>
            </a:pPr>
            <a:r>
              <a:t>Credential Bundle Format: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{ did, privateKeyMultibase,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  vtaDid, vtaUrl 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DID Methods &amp; DIDComm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30352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onsolas"/>
              </a:defRPr>
            </a:pPr>
            <a:r>
              <a:t>did:key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Simple, self-contained identifiers</a:t>
            </a:r>
          </a:p>
          <a:p>
            <a:pPr>
              <a:spcBef>
                <a:spcPts val="6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Ed25519 public key multibase-encoded</a:t>
            </a:r>
          </a:p>
          <a:p>
            <a:pPr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Format: did:key:z6Mk...</a:t>
            </a:r>
          </a:p>
          <a:p>
            <a:pPr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Used for admin and app credentials</a:t>
            </a:r>
          </a:p>
          <a:p>
            <a:pPr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Generated via /auth/credentials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80160"/>
            <a:ext cx="548640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C3AED"/>
                </a:solidFill>
                <a:latin typeface="Consolas"/>
              </a:defRPr>
            </a:pPr>
            <a:r>
              <a:t>did:webvh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Web Verifiable History — production identities</a:t>
            </a:r>
          </a:p>
          <a:p>
            <a:pPr>
              <a:spcBef>
                <a:spcPts val="6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Self-certifying with SCID</a:t>
            </a:r>
          </a:p>
          <a:p>
            <a:pPr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Portable across domains</a:t>
            </a:r>
          </a:p>
          <a:p>
            <a:pPr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Pre-rotation support</a:t>
            </a:r>
          </a:p>
          <a:p>
            <a:pPr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Signed verifiable history log (did.jsonl)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Calibri"/>
              </a:defRPr>
            </a:pPr>
            <a:r>
              <a:t>DIDComm v2 Messaging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Authenticated, encrypted peer-to-peer communication between DIDs</a:t>
            </a:r>
          </a:p>
          <a:p>
            <a:pPr algn="l">
              <a:spcBef>
                <a:spcPts val="4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00D2FF"/>
                </a:solidFill>
              </a:rPr>
              <a:t>Server:  </a:t>
            </a:r>
            <a:r>
              <a:rPr sz="1300">
                <a:solidFill>
                  <a:srgbClr val="94A3B8"/>
                </a:solidFill>
              </a:rPr>
              <a:t>ThreadedSecretsResolver + DIDCacheClient unpack incoming messages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7C3AED"/>
                </a:solidFill>
              </a:rPr>
              <a:t>Client:  </a:t>
            </a:r>
            <a:r>
              <a:rPr sz="1300">
                <a:solidFill>
                  <a:srgbClr val="94A3B8"/>
                </a:solidFill>
              </a:rPr>
              <a:t>Builds signed+encrypted messages via pack_encrypted() with Ed25519 + X25519 keys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Configuration &amp; Setup Wizard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30352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49377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Configuration (TOML)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7C3AED"/>
                </a:solidFill>
                <a:latin typeface="Consolas"/>
              </a:defRPr>
            </a:pPr>
            <a:r>
              <a:t>[server]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host, port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7C3AED"/>
                </a:solidFill>
                <a:latin typeface="Consolas"/>
              </a:defRPr>
            </a:pPr>
            <a:r>
              <a:t>[log]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level (info/debug/...), format (text/json)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7C3AED"/>
                </a:solidFill>
                <a:latin typeface="Consolas"/>
              </a:defRPr>
            </a:pPr>
            <a:r>
              <a:t>[store]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data_dir (fjall database path)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7C3AED"/>
                </a:solidFill>
                <a:latin typeface="Consolas"/>
              </a:defRPr>
            </a:pPr>
            <a:r>
              <a:t>[messaging]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mediator_url, mediator_did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7C3AED"/>
                </a:solidFill>
                <a:latin typeface="Consolas"/>
              </a:defRPr>
            </a:pPr>
            <a:r>
              <a:t>[auth]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token expiries, challenge_ttl, jwt_signing_key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7C3AED"/>
                </a:solidFill>
                <a:latin typeface="Consolas"/>
              </a:defRPr>
            </a:pPr>
            <a:r>
              <a:t>[root]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vta_did, community_name, community_description</a:t>
            </a:r>
          </a:p>
          <a:p>
            <a:pPr algn="l">
              <a:spcBef>
                <a:spcPts val="6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200" b="0">
                <a:solidFill>
                  <a:srgbClr val="10B981"/>
                </a:solidFill>
                <a:latin typeface="Calibri"/>
              </a:defRPr>
            </a:pPr>
            <a:r>
              <a:t>Environment variable overrides: VTA_SERVER_HOST, etc.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0B981"/>
                </a:solidFill>
                <a:latin typeface="Calibri"/>
              </a:defRPr>
            </a:pPr>
            <a:r>
              <a:t>Runtime updates via PATCH /config (super admin)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80160"/>
            <a:ext cx="548640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Calibri"/>
              </a:defRPr>
            </a:pPr>
            <a:r>
              <a:t>Setup Wizard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10B981"/>
                </a:solidFill>
                <a:latin typeface="Consolas"/>
              </a:defRPr>
            </a:pPr>
            <a:r>
              <a:t>vta-service setup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1. Collect server, logging, storage config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2. Create seed contexts (vta, mediator, trust-registry)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3. Generate/import BIP-39 mnemonic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4. Store seed in OS keyring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5. Generate random JWT signing key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6. Create mediator did:webvh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7. Create VTA did:webvh with DIDComm service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8. Create admin identity (did:key or did:webvh)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9. Bootstrap ACL with admin entry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10. Persist store and write config.toml</a:t>
            </a:r>
          </a:p>
          <a:p>
            <a:pPr algn="l">
              <a:spcBef>
                <a:spcPts val="6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Feature-gated: compile with --features "setup"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Security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3566160" cy="3200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Authentication Boundary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All endpoints require auth except /health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Challenge-response prevents replay attacks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DIDComm provides end-to-end encryption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JWT tokens are short-lived (15 min default)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280160"/>
            <a:ext cx="3566160" cy="3200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41732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Calibri"/>
              </a:defRPr>
            </a:pPr>
            <a:r>
              <a:t>Authorization Controls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Role-based access control (RBAC)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Context-scoped visibility and access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Privilege escalation prevention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Context admins cannot create super admins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1280160"/>
            <a:ext cx="3566160" cy="3200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Cryptographic Security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Master seed in OS keyring (never on disk)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Ed25519 signatures (EdDSA)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X25519 key agreement (ECDH)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BIP-32 deterministic derivation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8463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Additional Protections</a:t>
            </a:r>
          </a:p>
          <a:p>
            <a:pPr>
              <a:spcBef>
                <a:spcPts val="6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Session cleanup removes expired challenges and tokens automatically</a:t>
            </a:r>
          </a:p>
          <a:p>
            <a:pPr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Soft key revocation preserves audit trail</a:t>
            </a:r>
          </a:p>
          <a:p>
            <a:pPr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ACL re-evaluated on token refresh (role changes take effect immediately)</a:t>
            </a:r>
          </a:p>
          <a:p>
            <a:pPr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Graceful shutdown with SIGINT/SIGTERM handling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834640"/>
            <a:ext cx="21031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3200400"/>
            <a:ext cx="8503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BD5E1"/>
                </a:solidFill>
                <a:latin typeface="Calibri"/>
              </a:defRPr>
            </a:pPr>
            <a:r>
              <a:t>The VTA provides a complete trust infrastructure: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CBD5E1"/>
                </a:solidFill>
                <a:latin typeface="Calibri"/>
              </a:defRPr>
            </a:pPr>
          </a:p>
          <a:p>
            <a:pPr algn="ctr">
              <a:spcBef>
                <a:spcPts val="800"/>
              </a:spcBef>
              <a:defRPr sz="1600" b="0">
                <a:solidFill>
                  <a:srgbClr val="94A3B8"/>
                </a:solidFill>
                <a:latin typeface="Calibri"/>
              </a:defRPr>
            </a:pPr>
            <a:r>
              <a:t>Hierarchical key management with BIP-32 derivation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4A3B8"/>
                </a:solidFill>
                <a:latin typeface="Calibri"/>
              </a:defRPr>
            </a:pPr>
            <a:r>
              <a:t>DIDComm-based challenge-response authentication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4A3B8"/>
                </a:solidFill>
                <a:latin typeface="Calibri"/>
              </a:defRPr>
            </a:pPr>
            <a:r>
              <a:t>Multi-tenant context model with fine-grained RBAC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4A3B8"/>
                </a:solidFill>
                <a:latin typeface="Calibri"/>
              </a:defRPr>
            </a:pPr>
            <a:r>
              <a:t>Embedded storage with no external database dependencies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4A3B8"/>
                </a:solidFill>
                <a:latin typeface="Calibri"/>
              </a:defRPr>
            </a:pPr>
            <a:r>
              <a:t>Full-featured CLI for administration and identity management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4A3B8"/>
                </a:solidFill>
                <a:latin typeface="Calibri"/>
              </a:defRPr>
            </a:pPr>
            <a:r>
              <a:t>Production-ready with did:webvh verifiable identities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